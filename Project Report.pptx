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56" r:id="rId2"/>
    <p:sldId id="257" r:id="rId3"/>
    <p:sldId id="258" r:id="rId4"/>
    <p:sldId id="268" r:id="rId5"/>
    <p:sldId id="259" r:id="rId6"/>
    <p:sldId id="269" r:id="rId7"/>
    <p:sldId id="260" r:id="rId8"/>
    <p:sldId id="267" r:id="rId9"/>
    <p:sldId id="270" r:id="rId10"/>
    <p:sldId id="261" r:id="rId11"/>
    <p:sldId id="262" r:id="rId12"/>
    <p:sldId id="263" r:id="rId13"/>
    <p:sldId id="264" r:id="rId14"/>
    <p:sldId id="271" r:id="rId15"/>
    <p:sldId id="265" r:id="rId16"/>
    <p:sldId id="272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2C29CA-A875-4F73-B838-0DDB2A9CF7D6}" v="24" dt="2025-12-10T17:11:21.56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08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026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5000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9345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0069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1840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9969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7892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3611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4137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291959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9089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50255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62150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56536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614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2815D-FF58-430A-8B24-CC8A4A7E8BCF}" type="datetimeFigureOut">
              <a:rPr lang="en-IN" smtClean="0"/>
              <a:t>14-07-2026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35E03303-9F03-471C-B50E-A38B160BD58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4794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  <p:sldLayoutId id="2147483846" r:id="rId12"/>
    <p:sldLayoutId id="2147483847" r:id="rId13"/>
    <p:sldLayoutId id="2147483848" r:id="rId14"/>
    <p:sldLayoutId id="2147483849" r:id="rId15"/>
    <p:sldLayoutId id="214748385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FF2D7-E181-581B-A13E-28715F84A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1301" y="1018572"/>
            <a:ext cx="9269394" cy="1385847"/>
          </a:xfrm>
        </p:spPr>
        <p:txBody>
          <a:bodyPr>
            <a:no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AI-BASED FUEL EFFICIENT ROUTE OPTIMIZATION SYSTEM USING </a:t>
            </a:r>
            <a:r>
              <a:rPr lang="en-US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INTERNET OF VEHICLES (IOV)</a:t>
            </a:r>
            <a:endParaRPr lang="en-IN" sz="4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804128-C93E-984A-AB70-FEB50F4E08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7310" y="2534992"/>
            <a:ext cx="9977377" cy="4293169"/>
          </a:xfrm>
        </p:spPr>
        <p:txBody>
          <a:bodyPr>
            <a:normAutofit/>
          </a:bodyPr>
          <a:lstStyle/>
          <a:p>
            <a:pPr algn="ctr"/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endParaRPr lang="en-IN" sz="24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Manali Ghosh (17600122054)</a:t>
            </a:r>
          </a:p>
          <a:p>
            <a:pPr algn="ctr"/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Ananya Pan (17600122045)</a:t>
            </a:r>
          </a:p>
          <a:p>
            <a:pPr algn="ctr"/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Dipankar Manna (17600122033)</a:t>
            </a:r>
          </a:p>
          <a:p>
            <a:pPr algn="ctr"/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Ankit Pramanick (17600122063)</a:t>
            </a:r>
          </a:p>
          <a:p>
            <a:pPr algn="ctr"/>
            <a:b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By:</a:t>
            </a:r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Rakhi 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Chakraborty </a:t>
            </a:r>
            <a:b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Hooghly Engineering &amp; Technology College</a:t>
            </a:r>
            <a:endParaRPr lang="en-IN" sz="24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24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5721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D7F9-A4C3-1341-1AA3-87C6079F7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665" y="875104"/>
            <a:ext cx="8596668" cy="779362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910A147-E098-1718-FA2F-3ED79A4D4D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51088" y="1907595"/>
            <a:ext cx="9889823" cy="4221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Fuel consumption is a major concern due to rising fuel prices, traffic congestion, and pollution.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Traditional navigation apps show shortest or fastest routes.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They do not consider fuel usage, slope, driver behavior, or engine load.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Our project solves this by using AI, IoV data, Maps for fuel-optimized routing.</a:t>
            </a:r>
          </a:p>
        </p:txBody>
      </p:sp>
    </p:spTree>
    <p:extLst>
      <p:ext uri="{BB962C8B-B14F-4D97-AF65-F5344CB8AC3E}">
        <p14:creationId xmlns:p14="http://schemas.microsoft.com/office/powerpoint/2010/main" val="2456230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3E96E-2007-FDAB-3D0B-B0B9BEE0C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664" y="792226"/>
            <a:ext cx="8596668" cy="779362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76A53-2C8E-B05E-A915-42216F8DA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1969" y="1896035"/>
            <a:ext cx="9988062" cy="306593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Current navigation systems fail to consider driving behavior, elevation, engine load, and real fuel data, resulting in inaccurate route recommendations.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This leads to higher fuel consumption and unnecessary travel cost</a:t>
            </a:r>
            <a:endParaRPr lang="en-IN" sz="2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214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392B-9853-5D39-DD2F-C1F8396B9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820224"/>
            <a:ext cx="9905998" cy="847211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PROBLEM</a:t>
            </a:r>
            <a:endParaRPr lang="en-IN" sz="4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30428-BAF5-2A0E-DDBE-943FA8AD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922931"/>
            <a:ext cx="9905999" cy="3841377"/>
          </a:xfrm>
        </p:spPr>
        <p:txBody>
          <a:bodyPr>
            <a:norm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Shortest route is not always the fuel-efficient route.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Factors like acceleration, slope, and traffic heavily affect fuel usage.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existing system combines all real-world parameters into one prediction model.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gap directly impacts cost, time, and sustainability.</a:t>
            </a:r>
            <a:endParaRPr lang="en-IN" sz="2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630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B15C-3FA6-FCB4-ED7B-550FE860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666" y="691514"/>
            <a:ext cx="8596668" cy="802511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96725-F78A-93C9-BD8B-68A4D7B61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666" y="1755327"/>
            <a:ext cx="8596668" cy="4876819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 AI-powered route optimization system that: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Predicts fuel consumption for each road segment using ML.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eVED dataset for real driving &amp; sensor </a:t>
            </a:r>
            <a:r>
              <a:rPr lang="en-IN" sz="28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Adds elevation, slope &amp; traffic data.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Generates multiple routes using OSM.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Recommends the most fuel-efficient route.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IN" sz="28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369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320-DADC-7C86-6ABD-453D5901E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5" y="313214"/>
            <a:ext cx="8911687" cy="1280890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04A2AC-958A-B692-5D9C-1FF858F0C9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3641" y="1225295"/>
            <a:ext cx="8458201" cy="531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49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93CBB-50E9-5DC4-416D-1668DAD8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298902"/>
            <a:ext cx="8610600" cy="666673"/>
          </a:xfrm>
        </p:spPr>
        <p:txBody>
          <a:bodyPr>
            <a:no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7E80D-9C0D-6D54-CC28-8E32C1FF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176" y="1070721"/>
            <a:ext cx="7109635" cy="54883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system follows a modular pipeline architecture: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INPUT 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Flask-based web interface collects source, destination, and vehicle/driver profile (speed, acceleration, HP, temperature, load).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GEOCODING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Nominatim API converts location names to lat/lon coordinates.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GENERATION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OSRM + OpenStreetMap generates multiple candidate routes with full GeoJSON geometry.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EXTRACTION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For each route segment: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Elevation &amp; slope from NASA SRTM (via OpenTopoData API)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Traffic congestion from time-based simulation module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IN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9-feature vector built per segment</a:t>
            </a:r>
            <a:endParaRPr lang="en-IN" sz="18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 PREDICTION 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XGBoost model (R² = 0.90) predicts fuel rate (L/hr) for each segment after StandardScaler normalization.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Segment fuel values are summed per route. The route with lowest total fuel is recommended.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</a:t>
            </a:r>
            <a:r>
              <a:rPr lang="en-IN" sz="1600" b="1" u="sng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Map visualization with route overlays, fuel estimates,</a:t>
            </a:r>
          </a:p>
          <a:p>
            <a:pPr marL="0" indent="0">
              <a:buNone/>
            </a:pPr>
            <a:r>
              <a:rPr lang="en-IN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CO₂ footprint, and Eco-Score displayed to user.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A713AE-80BB-5B73-2340-2352E5F7DA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9" r="7228" b="3477"/>
          <a:stretch>
            <a:fillRect/>
          </a:stretch>
        </p:blipFill>
        <p:spPr>
          <a:xfrm>
            <a:off x="8693971" y="1162161"/>
            <a:ext cx="2981980" cy="4967169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4169700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17303-1F0D-5B93-C6A3-B47B04244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396" y="534253"/>
            <a:ext cx="9897208" cy="1293028"/>
          </a:xfrm>
        </p:spPr>
        <p:txBody>
          <a:bodyPr>
            <a:no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AI-BASED FUEL-EFFICIENT ROUTE OPTIMIZATION – </a:t>
            </a:r>
            <a:r>
              <a:rPr lang="en-US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B6679-6A98-0193-1864-16F509B66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963720"/>
            <a:ext cx="10820400" cy="4773257"/>
          </a:xfrm>
        </p:spPr>
        <p:txBody>
          <a:bodyPr>
            <a:noAutofit/>
          </a:bodyPr>
          <a:lstStyle/>
          <a:p>
            <a:r>
              <a:rPr lang="en-US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1: </a:t>
            </a: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 all possible routes between the source and destination using OSM/OSRM.</a:t>
            </a:r>
          </a:p>
          <a:p>
            <a:r>
              <a:rPr lang="en-US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2: </a:t>
            </a: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the trained ML model to predict fuel consumption for each segment of every route.</a:t>
            </a:r>
          </a:p>
          <a:p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3: Sum all the segment-level predictions to calculate the total fuel required for each route.</a:t>
            </a:r>
          </a:p>
          <a:p>
            <a:r>
              <a:rPr lang="en-US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4: </a:t>
            </a: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Compare all routes and select the one with the lowest total fuel consumption.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algorithm ensures that the selected route is not just shortest, but truly fuel-efficient based on behavior, terrain, and traffic factors.</a:t>
            </a:r>
          </a:p>
        </p:txBody>
      </p:sp>
    </p:spTree>
    <p:extLst>
      <p:ext uri="{BB962C8B-B14F-4D97-AF65-F5344CB8AC3E}">
        <p14:creationId xmlns:p14="http://schemas.microsoft.com/office/powerpoint/2010/main" val="1503810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20363-20D4-8553-CD2B-619436C72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232015"/>
            <a:ext cx="8911687" cy="1280890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 AND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D785E-AAAD-5E60-D14A-F09AA4C0C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675" y="1285526"/>
            <a:ext cx="6376189" cy="484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  <a:endParaRPr lang="en-US" sz="24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eVED-Inspired Indian IoV Fuel Consumption Dataset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Type: Synthetic, physics-based (modeled after the Extended Vehicle Energy Dataset)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Size: 5,000 samples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Variable: Fuel Rate (Liters per hour)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Coverage: 10 Indian cities (Mumbai, Delhi, Bangalore, Kolkata, Chennai, Hyderabad, Pune, Jaipur, Lucknow, Ahmedabad)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Vehicle Classes: Hatchback, Sedan, SUV, MUV.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6B10E8-50F3-1D9B-1E07-6E5E32F61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716024"/>
              </p:ext>
            </p:extLst>
          </p:nvPr>
        </p:nvGraphicFramePr>
        <p:xfrm>
          <a:off x="7326195" y="1685210"/>
          <a:ext cx="4545759" cy="403893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5253">
                  <a:extLst>
                    <a:ext uri="{9D8B030D-6E8A-4147-A177-3AD203B41FA5}">
                      <a16:colId xmlns:a16="http://schemas.microsoft.com/office/drawing/2014/main" val="4095758801"/>
                    </a:ext>
                  </a:extLst>
                </a:gridCol>
                <a:gridCol w="1515253">
                  <a:extLst>
                    <a:ext uri="{9D8B030D-6E8A-4147-A177-3AD203B41FA5}">
                      <a16:colId xmlns:a16="http://schemas.microsoft.com/office/drawing/2014/main" val="1234016272"/>
                    </a:ext>
                  </a:extLst>
                </a:gridCol>
                <a:gridCol w="1515253">
                  <a:extLst>
                    <a:ext uri="{9D8B030D-6E8A-4147-A177-3AD203B41FA5}">
                      <a16:colId xmlns:a16="http://schemas.microsoft.com/office/drawing/2014/main" val="2374954389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050" b="0" dirty="0">
                          <a:effectLst/>
                        </a:rPr>
                        <a:t>Feature</a:t>
                      </a:r>
                      <a:endParaRPr lang="en-US" sz="105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050" b="0" dirty="0">
                          <a:effectLst/>
                        </a:rPr>
                        <a:t>Description</a:t>
                      </a:r>
                      <a:endParaRPr lang="en-US" sz="105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 algn="l">
                        <a:buNone/>
                      </a:pPr>
                      <a:r>
                        <a:rPr lang="en-US" sz="1050" b="0" dirty="0">
                          <a:effectLst/>
                        </a:rPr>
                        <a:t>Unit</a:t>
                      </a:r>
                      <a:endParaRPr lang="en-US" sz="105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1858966261"/>
                  </a:ext>
                </a:extLst>
              </a:tr>
              <a:tr h="255639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Speed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Vehicle speed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km/h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2270366974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Acceleration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Rate of speed change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m/s²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3387955327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Slope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Road gradient (uphill/downhill)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degrees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1369674537"/>
                  </a:ext>
                </a:extLst>
              </a:tr>
              <a:tr h="255639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Distance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Segment length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km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3496914960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Congestion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Traffic congestion level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0 / 1 / 2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3288373498"/>
                  </a:ext>
                </a:extLst>
              </a:tr>
              <a:tr h="626275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Temperature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Ambient temperature (affects A/C load)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°C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5173296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StopGoFrequency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Number of stops per segment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count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1804701547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Engine Load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Engine load percentage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%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3085635139"/>
                  </a:ext>
                </a:extLst>
              </a:tr>
              <a:tr h="440957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Horsepower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Vehicle engine power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050" dirty="0">
                          <a:effectLst/>
                        </a:rPr>
                        <a:t>HP</a:t>
                      </a:r>
                      <a:endParaRPr lang="en-US" sz="105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722" marR="60722" marT="30361" marB="30361" anchor="ctr"/>
                </a:tc>
                <a:extLst>
                  <a:ext uri="{0D108BD9-81ED-4DB2-BD59-A6C34878D82A}">
                    <a16:rowId xmlns:a16="http://schemas.microsoft.com/office/drawing/2014/main" val="3834729356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F0A72C4-530E-5C07-14C1-272002C28037}"/>
              </a:ext>
            </a:extLst>
          </p:cNvPr>
          <p:cNvSpPr txBox="1"/>
          <p:nvPr/>
        </p:nvSpPr>
        <p:spPr>
          <a:xfrm>
            <a:off x="8028432" y="1315878"/>
            <a:ext cx="32092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9 Features Used for ML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85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9467F-34C8-37FA-5608-B2897B3F2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64" y="969743"/>
            <a:ext cx="9245472" cy="858253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 (TECH STACK)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25DE4-D226-4656-86A5-7EF3EF3D4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1734" y="2301267"/>
            <a:ext cx="3581845" cy="35869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Programming                  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Python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Flask (web interface)</a:t>
            </a:r>
          </a:p>
          <a:p>
            <a:pPr marL="0" indent="0">
              <a:buNone/>
            </a:pPr>
            <a:r>
              <a:rPr lang="en-US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Scikit-learn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XGBoost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E8BA7D-0838-7985-C0E9-69846FC55840}"/>
              </a:ext>
            </a:extLst>
          </p:cNvPr>
          <p:cNvSpPr txBox="1"/>
          <p:nvPr/>
        </p:nvSpPr>
        <p:spPr>
          <a:xfrm>
            <a:off x="5405512" y="2301267"/>
            <a:ext cx="610001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/ Maps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OSRM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OSMnx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OpenStreetMap</a:t>
            </a:r>
          </a:p>
          <a:p>
            <a:r>
              <a:rPr lang="en-IN" sz="2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Sources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eVED Dataset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NASA SRTM Elevation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Maps / TomTom Traffic API</a:t>
            </a:r>
          </a:p>
        </p:txBody>
      </p:sp>
    </p:spTree>
    <p:extLst>
      <p:ext uri="{BB962C8B-B14F-4D97-AF65-F5344CB8AC3E}">
        <p14:creationId xmlns:p14="http://schemas.microsoft.com/office/powerpoint/2010/main" val="298293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50BE-19B8-6016-C12D-BBB8175C7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666" y="832758"/>
            <a:ext cx="8596668" cy="798095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F2935-CCEA-6BEA-6EBF-58C2156FA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4261" y="1841126"/>
            <a:ext cx="8120073" cy="45017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Saves fuel cost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Reduces CO₂ emissions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Considers real driving </a:t>
            </a:r>
            <a:r>
              <a:rPr lang="en-IN" sz="2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endParaRPr lang="en-IN" sz="2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Better than traditional shortest-path apps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Suitable for navigation apps &amp; logistics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2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sustainable transportation</a:t>
            </a:r>
          </a:p>
        </p:txBody>
      </p:sp>
    </p:spTree>
    <p:extLst>
      <p:ext uri="{BB962C8B-B14F-4D97-AF65-F5344CB8AC3E}">
        <p14:creationId xmlns:p14="http://schemas.microsoft.com/office/powerpoint/2010/main" val="3857748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C8F7E-8D94-4CDF-879A-50676E840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699" y="657554"/>
            <a:ext cx="8610600" cy="853412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18669F8-778B-C649-FE1B-70BDCFEEB9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66394" y="1945801"/>
            <a:ext cx="7859209" cy="3971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Cleaning the large eVED dataset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Mapping GPS points with elevation data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Integrating multiple APIs together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Ensuring ML model accuracy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Real-time traffic handling</a:t>
            </a:r>
          </a:p>
        </p:txBody>
      </p:sp>
    </p:spTree>
    <p:extLst>
      <p:ext uri="{BB962C8B-B14F-4D97-AF65-F5344CB8AC3E}">
        <p14:creationId xmlns:p14="http://schemas.microsoft.com/office/powerpoint/2010/main" val="1801051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A7009-EC58-0EAD-D0F2-66EB6237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890103"/>
            <a:ext cx="8610600" cy="694334"/>
          </a:xfrm>
        </p:spPr>
        <p:txBody>
          <a:bodyPr>
            <a:no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4D500E3-998C-1297-BB00-DB7949F65A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71240" y="1996361"/>
            <a:ext cx="8449519" cy="3971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Dependent on availability of API data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Not real-time without constant updates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Accuracy depends on dataset quality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Heavy computation for long routes</a:t>
            </a:r>
          </a:p>
          <a:p>
            <a:pPr marR="0" lvl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Traffic data may sometimes be inaccurate</a:t>
            </a:r>
          </a:p>
        </p:txBody>
      </p:sp>
    </p:spTree>
    <p:extLst>
      <p:ext uri="{BB962C8B-B14F-4D97-AF65-F5344CB8AC3E}">
        <p14:creationId xmlns:p14="http://schemas.microsoft.com/office/powerpoint/2010/main" val="238556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BB1DA-3937-4CF1-4397-011DB3893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230918"/>
            <a:ext cx="8911687" cy="1280890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4185B-92A2-FBD9-CE8D-CA9D13D02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0156" y="1136904"/>
            <a:ext cx="8915400" cy="5199888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 Battery-Aware Route Optimization: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Extend the system for electric vehicles by considering current battery status, distance, traffic, and available charging station locations to optimize energy-efficient travel.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Sensor Integration (OBD-II):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Connect with live vehicle data through OBD-II interface to access real-time speed, engine performance, and fuel usage — allowing dynamic route adjustment based on actual vehicle conditions.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Pothole-Aware Routing: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Use vehicle sensor and smartphone data to detect road surface irregularities like potholes and recommend smoother alternative routes, improving ride comfort and reducing vehicle wear.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for Adaptive Eco-Routing: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RL techniques that continuously learn from traffic patterns, road conditions, and driver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 time — dynamically improving route suggestions for maximum fuel efficiency.</a:t>
            </a:r>
          </a:p>
          <a:p>
            <a:pPr>
              <a:lnSpc>
                <a:spcPct val="16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Public Transport Systems: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Combine personal vehicle routing with bus, metro, and train schedules to suggest hybrid multimodal travel options, reducing traffic congestion and promoting sustainable urban mobility.</a:t>
            </a:r>
          </a:p>
          <a:p>
            <a:pPr>
              <a:lnSpc>
                <a:spcPct val="16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0901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1BC5D-D718-4890-9FC6-407C0B30E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1049010"/>
            <a:ext cx="8610600" cy="923750"/>
          </a:xfrm>
        </p:spPr>
        <p:txBody>
          <a:bodyPr>
            <a:normAutofit/>
          </a:bodyPr>
          <a:lstStyle/>
          <a:p>
            <a:pPr algn="ctr"/>
            <a:r>
              <a:rPr lang="en-IN" sz="4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E00AC4-63A7-DD31-0523-2A96CDDAAA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75508" y="2117183"/>
            <a:ext cx="8156400" cy="3171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uses AI to improve route planning.</a:t>
            </a:r>
          </a:p>
          <a:p>
            <a:pPr marR="0" lvl="0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Considers real-world factors ignored by traditional apps.</a:t>
            </a:r>
          </a:p>
          <a:p>
            <a:pPr marR="0" lvl="0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Helps save fuel, reduce emissions, and optimize travel.</a:t>
            </a:r>
          </a:p>
          <a:p>
            <a:pPr marR="0" lvl="0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Useful for navigation apps, logistics, and smart cities.</a:t>
            </a:r>
          </a:p>
        </p:txBody>
      </p:sp>
    </p:spTree>
    <p:extLst>
      <p:ext uri="{BB962C8B-B14F-4D97-AF65-F5344CB8AC3E}">
        <p14:creationId xmlns:p14="http://schemas.microsoft.com/office/powerpoint/2010/main" val="1993518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D4F82-9DC3-E7CC-47EA-1B79FA829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523526"/>
            <a:ext cx="8911687" cy="1280890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B3711-AA17-1021-01AF-71D7004A4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8300" y="1362456"/>
            <a:ext cx="8915400" cy="4818888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Aslam, F. Khan, "Eco-Routing: Energy-Efficient Routing for Vehicles using Road and Traffic Information,"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Transactions on Intelligent Transportation Systems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2019.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S. A. Shah et al., "Machine Learning-Based Fuel Consumption Prediction Using Vehicle Telematics Data,"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Energy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260, 2020.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Boriboonsomsin and M. Barth, "Eco-Driving: Modeling and Control for Fuel Efficiency,"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ITS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2014.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M. Barth and K. Boriboonsomsin, "Energy and Emissions Impact of Freeway Speed Limits and Lane Management Strategies,"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Transportation Research Record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2008.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Kwon et al., "Impact of Road Grade on Vehicle Fuel Consumption,"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 of Transportation Engineering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2013.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L. Sun et al., "Predicting Vehicle Energy Consumption Using Machine Learning Incorporating Road Grade and Driver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," 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2021.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4736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349B-C47E-FAE3-2109-154BE416D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2782486"/>
            <a:ext cx="8610600" cy="1293028"/>
          </a:xfrm>
        </p:spPr>
        <p:txBody>
          <a:bodyPr>
            <a:normAutofit/>
          </a:bodyPr>
          <a:lstStyle/>
          <a:p>
            <a:pPr algn="ctr"/>
            <a:r>
              <a:rPr lang="en-IN" sz="6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49220911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347</TotalTime>
  <Words>1196</Words>
  <Application>Microsoft Office PowerPoint</Application>
  <PresentationFormat>Widescreen</PresentationFormat>
  <Paragraphs>143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Century Gothic</vt:lpstr>
      <vt:lpstr>Courier New</vt:lpstr>
      <vt:lpstr>Times New Roman</vt:lpstr>
      <vt:lpstr>Wingdings</vt:lpstr>
      <vt:lpstr>Wingdings 3</vt:lpstr>
      <vt:lpstr>Wisp</vt:lpstr>
      <vt:lpstr>AI-BASED FUEL EFFICIENT ROUTE OPTIMIZATION SYSTEM USING INTERNET OF VEHICLES (IOV)</vt:lpstr>
      <vt:lpstr>INTRODUCTION</vt:lpstr>
      <vt:lpstr>PROBLEM STATEMENT</vt:lpstr>
      <vt:lpstr>CORE PROBLEM</vt:lpstr>
      <vt:lpstr>PROPOSED SOLUTION</vt:lpstr>
      <vt:lpstr>SYSTEM ARCHITECTURE</vt:lpstr>
      <vt:lpstr>METHODOLOGY</vt:lpstr>
      <vt:lpstr>AI-BASED FUEL-EFFICIENT ROUTE OPTIMIZATION – ALGORITHM STEPS</vt:lpstr>
      <vt:lpstr>DATASET DETAILS AND FEATURES</vt:lpstr>
      <vt:lpstr>TECHNOLOGIES USED (TECH STACK)</vt:lpstr>
      <vt:lpstr>BENEFITS</vt:lpstr>
      <vt:lpstr>CHALLENGES</vt:lpstr>
      <vt:lpstr>LIMITATIONS </vt:lpstr>
      <vt:lpstr>FUTURE SCOPE</vt:lpstr>
      <vt:lpstr>CONCLUSION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Manali Ghosh</dc:creator>
  <cp:lastModifiedBy>Ankit Pramanick</cp:lastModifiedBy>
  <cp:revision>6</cp:revision>
  <dcterms:created xsi:type="dcterms:W3CDTF">2025-12-10T12:28:33Z</dcterms:created>
  <dcterms:modified xsi:type="dcterms:W3CDTF">2026-07-14T19:20:22Z</dcterms:modified>
</cp:coreProperties>
</file>